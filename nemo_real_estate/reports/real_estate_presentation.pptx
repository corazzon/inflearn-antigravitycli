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3474720"/>
            <a:ext cx="4114800" cy="4114800"/>
          </a:xfrm>
          <a:prstGeom prst="ellipse">
            <a:avLst/>
          </a:prstGeom>
          <a:solidFill>
            <a:srgbClr val="22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36576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37392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01984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Georgia"/>
              </a:defRPr>
            </a:pPr>
            <a:r>
              <a:t>광화문역 vs 강남역 상업 상권 비교 분석</a:t>
            </a:r>
          </a:p>
          <a:p>
            <a:pPr>
              <a:spcBef>
                <a:spcPts val="1200"/>
              </a:spcBef>
              <a:defRPr sz="1600">
                <a:solidFill>
                  <a:srgbClr val="CADCFC"/>
                </a:solidFill>
                <a:latin typeface="Calibri"/>
              </a:defRPr>
            </a:pPr>
            <a:r>
              <a:t>네모앱 수집 매물 663건 기반 상업용 부동산 임대 가격 및 입지 제언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3383280" cy="1097280"/>
          </a:xfrm>
          <a:prstGeom prst="roundRect">
            <a:avLst/>
          </a:prstGeom>
          <a:solidFill>
            <a:srgbClr val="22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84448"/>
            <a:ext cx="31089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B85042"/>
                </a:solidFill>
                <a:latin typeface="Georgia"/>
              </a:defRPr>
            </a:pPr>
            <a:r>
              <a:t>강남역 월세 프리미엄 27.6%</a:t>
            </a:r>
          </a:p>
          <a:p>
            <a:pPr>
              <a:spcBef>
                <a:spcPts val="400"/>
              </a:spcBef>
              <a:defRPr sz="1100">
                <a:solidFill>
                  <a:srgbClr val="CADCFC"/>
                </a:solidFill>
                <a:latin typeface="Calibri"/>
              </a:defRPr>
            </a:pPr>
            <a:r>
              <a:t>광화문 대비 고비용, 고마진 업종에만 유효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474720"/>
            <a:ext cx="3383280" cy="1097280"/>
          </a:xfrm>
          <a:prstGeom prst="roundRect">
            <a:avLst/>
          </a:prstGeom>
          <a:solidFill>
            <a:srgbClr val="22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584448"/>
            <a:ext cx="31089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50808E"/>
                </a:solidFill>
                <a:latin typeface="Georgia"/>
              </a:defRPr>
            </a:pPr>
            <a:r>
              <a:t>광화문역 월세 절감 ~20%</a:t>
            </a:r>
          </a:p>
          <a:p>
            <a:pPr>
              <a:spcBef>
                <a:spcPts val="400"/>
              </a:spcBef>
              <a:defRPr sz="1100">
                <a:solidFill>
                  <a:srgbClr val="CADCFC"/>
                </a:solidFill>
                <a:latin typeface="Calibri"/>
              </a:defRPr>
            </a:pPr>
            <a:r>
              <a:t>B2B·전문직·공유 오피스 안정 수익 최적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474720"/>
            <a:ext cx="3383280" cy="1097280"/>
          </a:xfrm>
          <a:prstGeom prst="roundRect">
            <a:avLst/>
          </a:prstGeom>
          <a:solidFill>
            <a:srgbClr val="22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3584448"/>
            <a:ext cx="31089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CADCFC"/>
                </a:solidFill>
                <a:latin typeface="Georgia"/>
              </a:defRPr>
            </a:pPr>
            <a:r>
              <a:t>초역세권 프리미엄 19.2%</a:t>
            </a:r>
          </a:p>
          <a:p>
            <a:pPr>
              <a:spcBef>
                <a:spcPts val="400"/>
              </a:spcBef>
              <a:defRPr sz="1100">
                <a:solidFill>
                  <a:srgbClr val="CADCFC"/>
                </a:solidFill>
                <a:latin typeface="Calibri"/>
              </a:defRPr>
            </a:pPr>
            <a:r>
              <a:t>고층+일반역세권 조합이 은닉된 비용 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alibri"/>
              </a:defRPr>
            </a:pPr>
            <a:r>
              <a:t>Antigravity AI Real Estate Data Pipeline  |  McKinsey Style Consultant  | 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1. 수집 데이터 개요 및 기초 통계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Georgia"/>
              </a:defRPr>
            </a:pPr>
            <a:r>
              <a:t>상업용 매물 데이터 분석 개요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수집 채널: </a:t>
            </a:r>
            <a:r>
              <a:rPr sz="1300">
                <a:solidFill>
                  <a:srgbClr val="3D3530"/>
                </a:solidFill>
                <a:latin typeface="Calibri"/>
              </a:rPr>
              <a:t>부동산 상업용 매물 전문 플랫폼 네모앱 (nemoapp.kr)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유효 표본 수: </a:t>
            </a:r>
            <a:r>
              <a:rPr sz="1300">
                <a:solidFill>
                  <a:srgbClr val="3D3530"/>
                </a:solidFill>
                <a:latin typeface="Calibri"/>
              </a:rPr>
              <a:t>총 662개 실시간 부동산 매물 (결측치 정제 완료)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상권 구성: </a:t>
            </a:r>
            <a:r>
              <a:rPr sz="1300">
                <a:solidFill>
                  <a:srgbClr val="3D3530"/>
                </a:solidFill>
                <a:latin typeface="Calibri"/>
              </a:rPr>
              <a:t>강남역 400건 (60.4%) | 광화문역 262건 (39.6%)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보증금 평균: </a:t>
            </a:r>
            <a:r>
              <a:rPr sz="1300">
                <a:solidFill>
                  <a:srgbClr val="3D3530"/>
                </a:solidFill>
                <a:latin typeface="Calibri"/>
              </a:rPr>
              <a:t>약 6억 3,182만 원 수준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월세 평균: </a:t>
            </a:r>
            <a:r>
              <a:rPr sz="1300">
                <a:solidFill>
                  <a:srgbClr val="3D3530"/>
                </a:solidFill>
                <a:latin typeface="Calibri"/>
              </a:rPr>
              <a:t>약 4,683만 원 수준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1280160"/>
          </a:xfrm>
          <a:prstGeom prst="roundRect">
            <a:avLst/>
          </a:prstGeom>
          <a:solidFill>
            <a:srgbClr val="EA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48056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>
                <a:solidFill>
                  <a:srgbClr val="8A7A6A"/>
                </a:solidFill>
              </a:defRPr>
            </a:pPr>
            <a:r>
              <a:t>TOTAL SAMPLE SIZE</a:t>
            </a:r>
          </a:p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662 개 매물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5029200" cy="1280160"/>
          </a:xfrm>
          <a:prstGeom prst="roundRect">
            <a:avLst/>
          </a:prstGeom>
          <a:solidFill>
            <a:srgbClr val="EA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154680"/>
            <a:ext cx="448056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>
                <a:solidFill>
                  <a:srgbClr val="8A7A6A"/>
                </a:solidFill>
              </a:defRPr>
            </a:pPr>
            <a:r>
              <a:t>OVERALL AVERAGE DEPOSIT</a:t>
            </a:r>
          </a:p>
          <a:p>
            <a:pPr>
              <a:defRPr sz="2800" b="1">
                <a:solidFill>
                  <a:srgbClr val="B85042"/>
                </a:solidFill>
                <a:latin typeface="Georgia"/>
              </a:defRPr>
            </a:pPr>
            <a:r>
              <a:t>6억 3,182만 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480560"/>
            <a:ext cx="5029200" cy="1280160"/>
          </a:xfrm>
          <a:prstGeom prst="roundRect">
            <a:avLst/>
          </a:prstGeom>
          <a:solidFill>
            <a:srgbClr val="EA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617720"/>
            <a:ext cx="448056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>
                <a:solidFill>
                  <a:srgbClr val="8A7A6A"/>
                </a:solidFill>
              </a:defRPr>
            </a:pPr>
            <a:r>
              <a:t>OVERALL AVERAGE MONTHLY RENT</a:t>
            </a:r>
          </a:p>
          <a:p>
            <a:pPr>
              <a:defRPr sz="2800" b="1">
                <a:solidFill>
                  <a:srgbClr val="50808E"/>
                </a:solidFill>
                <a:latin typeface="Georgia"/>
              </a:defRPr>
            </a:pPr>
            <a:r>
              <a:t>4,683만 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KEY FINDINGS — 데이터가 말하는 5가지 필수 발견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1417320"/>
          </a:xfrm>
          <a:prstGeom prst="roundRect">
            <a:avLst/>
          </a:prstGeom>
          <a:solidFill>
            <a:srgbClr val="F2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5029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B85042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4572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강남역 월세 27.6% 프리미엄 — 고마진 업종에만 정당성 존재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45720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>
                <a:solidFill>
                  <a:srgbClr val="3D3530"/>
                </a:solidFill>
                <a:latin typeface="Calibri"/>
              </a:defRPr>
            </a:pPr>
            <a:r>
              <a:t>강남역 평균 월세 5,122만 원 vs 광화문역 4,014만 원. F&amp;B·메디컴은 트래픽 기반 수익으로 회수 가능, 힘마진율 업종은 BEP +6개월.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5394960" cy="1417320"/>
          </a:xfrm>
          <a:prstGeom prst="roundRect">
            <a:avLst/>
          </a:prstGeom>
          <a:solidFill>
            <a:srgbClr val="EA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108960"/>
            <a:ext cx="5029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50808E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08960"/>
            <a:ext cx="4572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매물 분포는 근 수적 Right-Skewed — 중간값이 진짜 시세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45720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>
                <a:solidFill>
                  <a:srgbClr val="3D3530"/>
                </a:solidFill>
                <a:latin typeface="Calibri"/>
              </a:defRPr>
            </a:pPr>
            <a:r>
              <a:t>전체 평균 보증금 6억 3,182만 원 대비 중간값은 훨씬 낮음. 예산 수립 시 평균이 아닌 중간값 기준으로 출발해야 과도 지출 리스크를 피할 수 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5394960" cy="1417320"/>
          </a:xfrm>
          <a:prstGeom prst="roundRect">
            <a:avLst/>
          </a:prstGeom>
          <a:solidFill>
            <a:srgbClr val="F2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663440"/>
            <a:ext cx="5029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B85042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63440"/>
            <a:ext cx="4572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초역세권(5분 이내) 월세 프리미엄 19.2% — 워크인 필수 업종에만 유효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12080"/>
            <a:ext cx="45720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>
                <a:solidFill>
                  <a:srgbClr val="3D3530"/>
                </a:solidFill>
                <a:latin typeface="Calibri"/>
              </a:defRPr>
            </a:pPr>
            <a:r>
              <a:t>초역세권 평균 월세 5,006만 월 vs 일반역세권 4,201만 월. B2B 서비스업·전문직은 5분 프리미엄 포기 + 고층 조합으로 20~30% 절감 가능.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463040"/>
            <a:ext cx="5394960" cy="1417320"/>
          </a:xfrm>
          <a:prstGeom prst="roundRect">
            <a:avLst/>
          </a:prstGeom>
          <a:solidFill>
            <a:srgbClr val="EA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554480"/>
            <a:ext cx="5029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50808E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554480"/>
            <a:ext cx="4572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6층 이상 고층은 최고 월세 수준 — 대형 사무실 계약의 었당놈는 수익맨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03120"/>
            <a:ext cx="45720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>
                <a:solidFill>
                  <a:srgbClr val="3D3530"/>
                </a:solidFill>
                <a:latin typeface="Calibri"/>
              </a:defRPr>
            </a:pPr>
            <a:r>
              <a:t>6층 이상 평균 월세 6,414만 월로 전체 최고. 그러나 제시 평평급 빌딩의 대형 전용 면적 폴가로 인한 것으로, ㎡당 월세 단가는 1층 대비 15~20% 낙다. 대형 임차 업체에게 실질 가성비 기회.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017520"/>
            <a:ext cx="5394960" cy="1417320"/>
          </a:xfrm>
          <a:prstGeom prst="roundRect">
            <a:avLst/>
          </a:prstGeom>
          <a:solidFill>
            <a:srgbClr val="F2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3108960"/>
            <a:ext cx="5029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B85042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108960"/>
            <a:ext cx="45720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t>TF-IDF 핵심: '층수·역세권·도보 분' — 임대인이 관리하는 시세 레버 3종셋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657600"/>
            <a:ext cx="45720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>
                <a:solidFill>
                  <a:srgbClr val="3D3530"/>
                </a:solidFill>
                <a:latin typeface="Calibri"/>
              </a:defRPr>
            </a:pPr>
            <a:r>
              <a:t>매물 홍보의 최상위 셀링포인트는 층수, 역 5분·4분 등 교통 접근성, 일반음식점 등 업종이다. 임차인은 이 3가지 레버를 활용해 협상 시 실질적 비용 절감을 요구해야 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3. 통계적 이상치(IQR 1.5) 식별 및 전후 분포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Georgia"/>
              </a:defRPr>
            </a:pPr>
            <a:r>
              <a:t>초고가 빌딩으로 인한 시세 착시 현상 제거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이상치 영향도: </a:t>
            </a:r>
            <a:r>
              <a:rPr sz="1300">
                <a:solidFill>
                  <a:srgbClr val="3D3530"/>
                </a:solidFill>
                <a:latin typeface="Calibri"/>
              </a:rPr>
              <a:t>보증금 최대 67억 원, 월세 최대 6,700만 원 선의 극단치 빌딩이 시장 평균 시세를 착시시킴.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IQR 1.5 기준 정제: </a:t>
            </a:r>
            <a:r>
              <a:rPr sz="1300">
                <a:solidFill>
                  <a:srgbClr val="3D3530"/>
                </a:solidFill>
                <a:latin typeface="Calibri"/>
              </a:rPr>
              <a:t>정제 후 보증금 4,000만 원, 월세 3,000만 원 선에서 지극히 현실적이고 밀집도 높은 분포가 드러남.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의사결정 리스크: </a:t>
            </a:r>
            <a:r>
              <a:rPr sz="1300">
                <a:solidFill>
                  <a:srgbClr val="3D3530"/>
                </a:solidFill>
                <a:latin typeface="Calibri"/>
              </a:rPr>
              <a:t>평균값에 기반한 재무 계획 수립 시 발생할 예산 오차 방지 가능.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시장 분석 강점: </a:t>
            </a:r>
            <a:r>
              <a:rPr sz="1300">
                <a:solidFill>
                  <a:srgbClr val="3D3530"/>
                </a:solidFill>
                <a:latin typeface="Calibri"/>
              </a:rPr>
              <a:t>중소형 상가 및 일반 오피스 매물의 정확한 거래 밴드 식별에 기여.</a:t>
            </a:r>
          </a:p>
        </p:txBody>
      </p:sp>
      <p:pic>
        <p:nvPicPr>
          <p:cNvPr id="8" name="Picture 7" descr="12_outlier_remo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572000" cy="32493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212080"/>
            <a:ext cx="4572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i="1">
                <a:solidFill>
                  <a:srgbClr val="8A7A6A"/>
                </a:solidFill>
              </a:defRPr>
            </a:pPr>
            <a:r>
              <a:t>[그림 2] 이상치 정제 전후 보증금 및 월세 분포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4. 상권별 단위면적(㎡)당 월세 단가 분포</a:t>
            </a:r>
          </a:p>
        </p:txBody>
      </p:sp>
      <p:pic>
        <p:nvPicPr>
          <p:cNvPr id="7" name="Picture 6" descr="13_price_per_sq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572000" cy="15171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212080"/>
            <a:ext cx="4572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i="1">
                <a:solidFill>
                  <a:srgbClr val="8A7A6A"/>
                </a:solidFill>
              </a:defRPr>
            </a:pPr>
            <a:r>
              <a:t>[그림 3] 상권별 단위면적당 월세 단가 분포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Georgia"/>
              </a:defRPr>
            </a:pPr>
            <a:r>
              <a:t>단위면적 기준 가격의 의외의 역전 현상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면적당 월세 역전: </a:t>
            </a:r>
            <a:r>
              <a:rPr sz="1300">
                <a:solidFill>
                  <a:srgbClr val="3D3530"/>
                </a:solidFill>
                <a:latin typeface="Calibri"/>
              </a:rPr>
              <a:t>㎡당 평균 월세는 광화문역(42.5만 원)이 강남역(38.3만 원) 대비 11% 더 비싼 것으로 밝혀짐.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자산 크기 효과 착시: </a:t>
            </a:r>
            <a:r>
              <a:rPr sz="1300">
                <a:solidFill>
                  <a:srgbClr val="3D3530"/>
                </a:solidFill>
                <a:latin typeface="Calibri"/>
              </a:rPr>
              <a:t>강남역은 넓은 대형 매물 공급이 많아 임대료 총액이 비싸 보였던 착시 효과가 존재했음.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공간 효율성: </a:t>
            </a:r>
            <a:r>
              <a:rPr sz="1300">
                <a:solidFill>
                  <a:srgbClr val="3D3530"/>
                </a:solidFill>
                <a:latin typeface="Calibri"/>
              </a:rPr>
              <a:t>중소형 콤팩트 오피스 임차 시 광화문의 실질 단가 부담이 강남보다 클 수 있음.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협상 기준 설정: </a:t>
            </a:r>
            <a:r>
              <a:rPr sz="1300">
                <a:solidFill>
                  <a:srgbClr val="3D3530"/>
                </a:solidFill>
                <a:latin typeface="Calibri"/>
              </a:rPr>
              <a:t>총액 예산뿐 아니라 ㎡당 실질 단가를 활용한 임대차 조율 전략 수립 필수.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5. 상권별 4대 핵심 임대 지표 종합 비교 (이상치 정제)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Georgia"/>
              </a:defRPr>
            </a:pPr>
            <a:r>
              <a:t>보증금·월세·면적·관리비 종합 비교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월세 및 관리비 편차: </a:t>
            </a:r>
            <a:r>
              <a:rPr sz="1300">
                <a:solidFill>
                  <a:srgbClr val="3D3530"/>
                </a:solidFill>
                <a:latin typeface="Calibri"/>
              </a:rPr>
              <a:t>강남역(월세 중간값 3,200만 원, 관리비 300만 원)이 광화문(2,725만 원, 200만 원)보다 고정비 부담이 확실히 큼.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공간 규모 옵션: </a:t>
            </a:r>
            <a:r>
              <a:rPr sz="1300">
                <a:solidFill>
                  <a:srgbClr val="3D3530"/>
                </a:solidFill>
                <a:latin typeface="Calibri"/>
              </a:rPr>
              <a:t>전용면적 평균은 강남역이 112㎡로 광화문역(81.8㎡) 대비 38% 넓어, 대형 사무실 계약 시 다양한 매물 확보 가능.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안정 지향 기업: </a:t>
            </a:r>
            <a:r>
              <a:rPr sz="1300">
                <a:solidFill>
                  <a:srgbClr val="3D3530"/>
                </a:solidFill>
                <a:latin typeface="Calibri"/>
              </a:rPr>
              <a:t>광화문역 상권은 4대 지표의 변동성이 좁고 가격 분포가 고른 안정적인 운영에 적합함.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비용 통제 레버: </a:t>
            </a:r>
            <a:r>
              <a:rPr sz="1300">
                <a:solidFill>
                  <a:srgbClr val="3D3530"/>
                </a:solidFill>
                <a:latin typeface="Calibri"/>
              </a:rPr>
              <a:t>관리비 비율이 높은 강남 상권 계약 시 특약 조건을 통한 고정비 방어 중요.</a:t>
            </a:r>
          </a:p>
        </p:txBody>
      </p:sp>
      <p:pic>
        <p:nvPicPr>
          <p:cNvPr id="8" name="Picture 7" descr="14_reg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572000" cy="35874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212080"/>
            <a:ext cx="4572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i="1">
                <a:solidFill>
                  <a:srgbClr val="8A7A6A"/>
                </a:solidFill>
              </a:defRPr>
            </a:pPr>
            <a:r>
              <a:t>[그림 4] 지역별 4대 지표 상자그림 분포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6. 보증금-월세-면적 관계의 입체적 버블 분석</a:t>
            </a:r>
          </a:p>
        </p:txBody>
      </p:sp>
      <p:pic>
        <p:nvPicPr>
          <p:cNvPr id="7" name="Picture 6" descr="15_deposit_rent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572000" cy="3038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212080"/>
            <a:ext cx="4572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i="1">
                <a:solidFill>
                  <a:srgbClr val="8A7A6A"/>
                </a:solidFill>
              </a:defRPr>
            </a:pPr>
            <a:r>
              <a:t>[그림 5] 보증금-월세-면적 결합 버블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Georgia"/>
              </a:defRPr>
            </a:pPr>
            <a:r>
              <a:t>상호보완이 아닌 동반 상승하는 임대 시세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양(+)의 상관관계: </a:t>
            </a:r>
            <a:r>
              <a:rPr sz="1300">
                <a:solidFill>
                  <a:srgbClr val="3D3530"/>
                </a:solidFill>
                <a:latin typeface="Calibri"/>
              </a:rPr>
              <a:t>보증금과 월세 간 상관계수가 강남 0.87, 광화문 0.75로 전형적인 우상향 자산 가치 동반 상승을 보여줌.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자산 규모 효과: </a:t>
            </a:r>
            <a:r>
              <a:rPr sz="1300">
                <a:solidFill>
                  <a:srgbClr val="3D3530"/>
                </a:solidFill>
                <a:latin typeface="Calibri"/>
              </a:rPr>
              <a:t>보증금을 증액해 월세를 삭감하는 주거용 오피스텔 성격과 달리, 공간 가치가 커질수록 두 항목이 동시에 비례하여 치솟음.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버블 크기의 시사점: </a:t>
            </a:r>
            <a:r>
              <a:rPr sz="1300">
                <a:solidFill>
                  <a:srgbClr val="3D3530"/>
                </a:solidFill>
                <a:latin typeface="Calibri"/>
              </a:rPr>
              <a:t>면적(버블 크기)이 대형화될수록 강남역 상권은 가파른 경사로 월세와 보증금이 수직 상승하는 고위험 예산 구간 도달.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자산 포트폴리오: </a:t>
            </a:r>
            <a:r>
              <a:rPr sz="1300">
                <a:solidFill>
                  <a:srgbClr val="3D3530"/>
                </a:solidFill>
                <a:latin typeface="Calibri"/>
              </a:rPr>
              <a:t>통합 예산 운용 시 두 변수를 독립적으로 설계하지 말고 총 보유 현금흐름으로 접근해야 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7. 상권별 권리금 분포 및 유권리 매물 비율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Georgia"/>
              </a:defRPr>
            </a:pPr>
            <a:r>
              <a:t>권리금 유무에 따른 초기 매몰 비용 진단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유권리 비중 48.7%: </a:t>
            </a:r>
            <a:r>
              <a:rPr sz="1300">
                <a:solidFill>
                  <a:srgbClr val="3D3530"/>
                </a:solidFill>
                <a:latin typeface="Calibri"/>
              </a:rPr>
              <a:t>전체 등록 매물의 절반에 가까운 상가들이 권리금을 요구하여 창업 시 초기 예산 압박의 주된 원인이 됨.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광화문의 권리금 역설: </a:t>
            </a:r>
            <a:r>
              <a:rPr sz="1300">
                <a:solidFill>
                  <a:srgbClr val="3D3530"/>
                </a:solidFill>
                <a:latin typeface="Calibri"/>
              </a:rPr>
              <a:t>평균 권리금은 광화문(9,518만 원)이 강남(7,014만 원)보다 약 35.7% 높아 실질 영업 기반 인수에 장벽이 큼.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상권 배후 안정성: </a:t>
            </a:r>
            <a:r>
              <a:rPr sz="1300">
                <a:solidFill>
                  <a:srgbClr val="3D3530"/>
                </a:solidFill>
                <a:latin typeface="Calibri"/>
              </a:rPr>
              <a:t>광화문은 직장인/공공기관의 단단한 주중 고정 수요로 기존 상가의 시설·영업 가치를 더 높게 평가받는 경향이 있음.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인수 의사결정: </a:t>
            </a:r>
            <a:r>
              <a:rPr sz="1300">
                <a:solidFill>
                  <a:srgbClr val="3D3530"/>
                </a:solidFill>
                <a:latin typeface="Calibri"/>
              </a:rPr>
              <a:t>권리금 회수 가능성을 정밀하게 검증하여 매몰 리스크가 큰 플래그십 업종의 광화문 진입 시 신중해야 함.</a:t>
            </a:r>
          </a:p>
        </p:txBody>
      </p:sp>
      <p:pic>
        <p:nvPicPr>
          <p:cNvPr id="8" name="Picture 7" descr="16_premium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572000" cy="17123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212080"/>
            <a:ext cx="4572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i="1">
                <a:solidFill>
                  <a:srgbClr val="8A7A6A"/>
                </a:solidFill>
              </a:defRPr>
            </a:pPr>
            <a:r>
              <a:t>[그림 6] 상권별 권리금 평균값 및 유권리 매물 빈도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8. 매물 상세 설명 텍스트 마이닝 분석</a:t>
            </a:r>
          </a:p>
        </p:txBody>
      </p:sp>
      <p:pic>
        <p:nvPicPr>
          <p:cNvPr id="7" name="Picture 6" descr="11_tfidf_keyword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572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212080"/>
            <a:ext cx="45720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i="1">
                <a:solidFill>
                  <a:srgbClr val="8A7A6A"/>
                </a:solidFill>
              </a:defRPr>
            </a:pPr>
            <a:r>
              <a:t>[그림 7] TF-IDF 중요 키워드 상위 15개 핵심 가중치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1E2761"/>
                </a:solidFill>
                <a:latin typeface="Georgia"/>
              </a:defRPr>
            </a:pPr>
            <a:r>
              <a:t>가중치 키워드를 통한 중개 실무 해석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층수 가치 최우선: </a:t>
            </a:r>
            <a:r>
              <a:rPr sz="1300">
                <a:solidFill>
                  <a:srgbClr val="3D3530"/>
                </a:solidFill>
                <a:latin typeface="Calibri"/>
              </a:rPr>
              <a:t>최상위 키워드 '1층', '2층', '층수'의 강세는 가시성 및 도보 접근성이 상업적 집객의 핵심 척도임을 입증.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도보 역세권 입지: </a:t>
            </a:r>
            <a:r>
              <a:rPr sz="1300">
                <a:solidFill>
                  <a:srgbClr val="3D3530"/>
                </a:solidFill>
                <a:latin typeface="Calibri"/>
              </a:rPr>
              <a:t>'5분', '4분', '강남역', '역삼역', '종각역' 등 역사 접근거리가 임대인들의 가장 주된 셀링 포인트로 활용됨.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권리금 및 관리비: </a:t>
            </a:r>
            <a:r>
              <a:rPr sz="1300">
                <a:solidFill>
                  <a:srgbClr val="3D3530"/>
                </a:solidFill>
                <a:latin typeface="Calibri"/>
              </a:rPr>
              <a:t>'000만원', '500만원' 등 권리금 관련 키워드의 빈번한 노출은 초기 창업 비용에 미치는 영향력을 방증.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 b="1">
                <a:solidFill>
                  <a:srgbClr val="3D3530"/>
                </a:solidFill>
                <a:latin typeface="Calibri"/>
              </a:rPr>
              <a:t>•  업종 및 용도 매칭: </a:t>
            </a:r>
            <a:r>
              <a:rPr sz="1300">
                <a:solidFill>
                  <a:srgbClr val="3D3530"/>
                </a:solidFill>
                <a:latin typeface="Calibri"/>
              </a:rPr>
              <a:t>'일반음식점', '기타업종', '휴게음식점'의 강세로 식음료(F&amp;B) 업계 중심의 임차 수요 활성도가 드러남.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474720"/>
            <a:ext cx="4114800" cy="4114800"/>
          </a:xfrm>
          <a:prstGeom prst="ellipse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1E2761"/>
                </a:solidFill>
                <a:latin typeface="Georgia"/>
              </a:defRPr>
            </a:pPr>
            <a:r>
              <a:t>9. 상권별 맞춤형 입지 추천 가이드라인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29200" cy="4206240"/>
          </a:xfrm>
          <a:prstGeom prst="roundRect">
            <a:avLst/>
          </a:prstGeom>
          <a:solidFill>
            <a:srgbClr val="F2D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48056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>
                <a:solidFill>
                  <a:srgbClr val="B85042"/>
                </a:solidFill>
                <a:latin typeface="Georgia"/>
              </a:defRPr>
            </a:pPr>
            <a:r>
              <a:t>■ 강남역 상권 (고집객 - 고위험 전략)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00" b="1">
                <a:solidFill>
                  <a:srgbClr val="3D3530"/>
                </a:solidFill>
                <a:latin typeface="Calibri"/>
              </a:rPr>
              <a:t>•  타깃 업종: </a:t>
            </a:r>
            <a:r>
              <a:rPr sz="1200">
                <a:solidFill>
                  <a:srgbClr val="3D3530"/>
                </a:solidFill>
                <a:latin typeface="Calibri"/>
              </a:rPr>
              <a:t>대형 프랜차이즈, F&amp;B, 플래그십 샵, 피부과/안과 의원 등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00" b="1">
                <a:solidFill>
                  <a:srgbClr val="3D3530"/>
                </a:solidFill>
                <a:latin typeface="Calibri"/>
              </a:rPr>
              <a:t>•  핵심 메리트: </a:t>
            </a:r>
            <a:r>
              <a:rPr sz="1200">
                <a:solidFill>
                  <a:srgbClr val="3D3530"/>
                </a:solidFill>
                <a:latin typeface="Calibri"/>
              </a:rPr>
              <a:t>막강한 트래픽 기반 높은 집객 시너지와 젊은 층 수요 독식 구조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00" b="1">
                <a:solidFill>
                  <a:srgbClr val="3D3530"/>
                </a:solidFill>
                <a:latin typeface="Calibri"/>
              </a:rPr>
              <a:t>•  재무적 시사점: </a:t>
            </a:r>
            <a:r>
              <a:rPr sz="1200">
                <a:solidFill>
                  <a:srgbClr val="3D3530"/>
                </a:solidFill>
                <a:latin typeface="Calibri"/>
              </a:rPr>
              <a:t>높은 월세 수준(평균 5,122만 원)을 버텨낼 초기 현금 체력 및 높은 마진율 확보가 최우선 조건임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4206240"/>
          </a:xfrm>
          <a:prstGeom prst="roundRect">
            <a:avLst/>
          </a:prstGeom>
          <a:solidFill>
            <a:srgbClr val="EA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48056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>
                <a:solidFill>
                  <a:srgbClr val="1E2761"/>
                </a:solidFill>
                <a:latin typeface="Georgia"/>
              </a:defRPr>
            </a:pPr>
            <a:r>
              <a:t>■ 광화문역 상권 (안정성 - 내실화 전략)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00" b="1">
                <a:solidFill>
                  <a:srgbClr val="3D3530"/>
                </a:solidFill>
                <a:latin typeface="Calibri"/>
              </a:rPr>
              <a:t>•  타깃 업종: </a:t>
            </a:r>
            <a:r>
              <a:rPr sz="1200">
                <a:solidFill>
                  <a:srgbClr val="3D3530"/>
                </a:solidFill>
                <a:latin typeface="Calibri"/>
              </a:rPr>
              <a:t>한식/일식 등 직장인 타깃 중고가 요식업, 전문직 사무소, 공유 오피스 등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00" b="1">
                <a:solidFill>
                  <a:srgbClr val="3D3530"/>
                </a:solidFill>
                <a:latin typeface="Calibri"/>
              </a:rPr>
              <a:t>•  핵심 메리트: </a:t>
            </a:r>
            <a:r>
              <a:rPr sz="1200">
                <a:solidFill>
                  <a:srgbClr val="3D3530"/>
                </a:solidFill>
                <a:latin typeface="Calibri"/>
              </a:rPr>
              <a:t>정부청사/대기업 본사 중심의 안정적인 주중 상주인구와 구매력 높은 오피스 배후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200" b="1">
                <a:solidFill>
                  <a:srgbClr val="3D3530"/>
                </a:solidFill>
                <a:latin typeface="Calibri"/>
              </a:rPr>
              <a:t>•  재무적 시사점: </a:t>
            </a:r>
            <a:r>
              <a:rPr sz="1200">
                <a:solidFill>
                  <a:srgbClr val="3D3530"/>
                </a:solidFill>
                <a:latin typeface="Calibri"/>
              </a:rPr>
              <a:t>강남 상권 대비 월평균 21.6%의 임대 관리비 절약이 가능하여, 리스크가 적고 효율 지향적인 중장기 비즈니스에 강추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725912" cy="9144"/>
          </a:xfrm>
          <a:prstGeom prst="rect">
            <a:avLst/>
          </a:prstGeom>
          <a:solidFill>
            <a:srgbClr val="DF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8A7A6A"/>
                </a:solidFill>
                <a:latin typeface="Calibri"/>
              </a:defRPr>
            </a:pPr>
            <a:r>
              <a:t>DATA SOURCE: NEMOAPP REAL ESTATE DATA  |  PREPARED BY ANTIGRAVITY DATA PIPELINE  |  STYLE: NORDIC MINIMALISM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3474720"/>
            <a:ext cx="4114800" cy="4114800"/>
          </a:xfrm>
          <a:prstGeom prst="ellipse">
            <a:avLst/>
          </a:prstGeom>
          <a:solidFill>
            <a:srgbClr val="222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36576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37392" y="365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01984" y="365760"/>
            <a:ext cx="91440" cy="9144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Georgia"/>
              </a:defRPr>
            </a:pPr>
            <a:r>
              <a:t>경청해 주셔서 감사합니다</a:t>
            </a:r>
          </a:p>
          <a:p>
            <a:pPr algn="ctr">
              <a:spcBef>
                <a:spcPts val="1800"/>
              </a:spcBef>
              <a:defRPr sz="1800">
                <a:solidFill>
                  <a:srgbClr val="CADCFC"/>
                </a:solidFill>
                <a:latin typeface="Calibr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